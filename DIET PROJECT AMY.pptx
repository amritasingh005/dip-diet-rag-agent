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90" r:id="rId2"/>
    <p:sldId id="291" r:id="rId3"/>
    <p:sldId id="292" r:id="rId4"/>
    <p:sldId id="293" r:id="rId5"/>
    <p:sldId id="294" r:id="rId6"/>
    <p:sldId id="310" r:id="rId7"/>
    <p:sldId id="301" r:id="rId8"/>
    <p:sldId id="302" r:id="rId9"/>
    <p:sldId id="303" r:id="rId10"/>
    <p:sldId id="304" r:id="rId11"/>
    <p:sldId id="305" r:id="rId12"/>
    <p:sldId id="306" r:id="rId13"/>
    <p:sldId id="307" r:id="rId14"/>
    <p:sldId id="308" r:id="rId15"/>
    <p:sldId id="309"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1" autoAdjust="0"/>
    <p:restoredTop sz="91765" autoAdjust="0"/>
  </p:normalViewPr>
  <p:slideViewPr>
    <p:cSldViewPr snapToGrid="0">
      <p:cViewPr varScale="1">
        <p:scale>
          <a:sx n="75" d="100"/>
          <a:sy n="75" d="100"/>
        </p:scale>
        <p:origin x="103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59846081"/>
              </p:ext>
            </p:extLst>
          </p:nvPr>
        </p:nvGraphicFramePr>
        <p:xfrm>
          <a:off x="1206163" y="2208474"/>
          <a:ext cx="9488082" cy="2419715"/>
        </p:xfrm>
        <a:graphic>
          <a:graphicData uri="http://schemas.openxmlformats.org/drawingml/2006/table">
            <a:tbl>
              <a:tblPr>
                <a:noFill/>
                <a:tableStyleId>{0AAD8F4D-43EB-41E5-8A38-28AB6DFB1B60}</a:tableStyleId>
              </a:tblPr>
              <a:tblGrid>
                <a:gridCol w="2085327">
                  <a:extLst>
                    <a:ext uri="{9D8B030D-6E8A-4147-A177-3AD203B41FA5}">
                      <a16:colId xmlns:a16="http://schemas.microsoft.com/office/drawing/2014/main" val="20000"/>
                    </a:ext>
                  </a:extLst>
                </a:gridCol>
                <a:gridCol w="2467585">
                  <a:extLst>
                    <a:ext uri="{9D8B030D-6E8A-4147-A177-3AD203B41FA5}">
                      <a16:colId xmlns:a16="http://schemas.microsoft.com/office/drawing/2014/main" val="20002"/>
                    </a:ext>
                  </a:extLst>
                </a:gridCol>
                <a:gridCol w="2467585">
                  <a:extLst>
                    <a:ext uri="{9D8B030D-6E8A-4147-A177-3AD203B41FA5}">
                      <a16:colId xmlns:a16="http://schemas.microsoft.com/office/drawing/2014/main" val="20003"/>
                    </a:ext>
                  </a:extLst>
                </a:gridCol>
                <a:gridCol w="2467585">
                  <a:extLst>
                    <a:ext uri="{9D8B030D-6E8A-4147-A177-3AD203B41FA5}">
                      <a16:colId xmlns:a16="http://schemas.microsoft.com/office/drawing/2014/main" val="20004"/>
                    </a:ext>
                  </a:extLst>
                </a:gridCol>
              </a:tblGrid>
              <a:tr h="1086671">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33044">
                <a:tc>
                  <a:txBody>
                    <a:bodyPr/>
                    <a:lstStyle/>
                    <a:p>
                      <a:pPr marL="0" marR="0" lvl="0" indent="0" algn="l" rtl="0">
                        <a:spcBef>
                          <a:spcPts val="0"/>
                        </a:spcBef>
                        <a:spcAft>
                          <a:spcPts val="0"/>
                        </a:spcAft>
                        <a:buNone/>
                      </a:pPr>
                      <a:r>
                        <a:rPr lang="en-US" sz="2000" dirty="0"/>
                        <a:t>Amrita Singh</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amritas7705@gmail.com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8770636697</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[Healthcare / Nutrition]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[RAG Agent  for DIP Diet]</a:t>
            </a:r>
            <a:endParaRPr lang="en-IN" sz="2400" b="1" dirty="0">
              <a:highlight>
                <a:srgbClr val="FFFF00"/>
              </a:highlight>
            </a:endParaRPr>
          </a:p>
        </p:txBody>
      </p:sp>
      <p:pic>
        <p:nvPicPr>
          <p:cNvPr id="3" name="Picture 2">
            <a:extLst>
              <a:ext uri="{FF2B5EF4-FFF2-40B4-BE49-F238E27FC236}">
                <a16:creationId xmlns:a16="http://schemas.microsoft.com/office/drawing/2014/main" id="{F3AFDCDD-CE23-6C74-9B0F-C0F49D151109}"/>
              </a:ext>
            </a:extLst>
          </p:cNvPr>
          <p:cNvPicPr>
            <a:picLocks noChangeAspect="1"/>
          </p:cNvPicPr>
          <p:nvPr/>
        </p:nvPicPr>
        <p:blipFill>
          <a:blip r:embed="rId3"/>
          <a:stretch>
            <a:fillRect/>
          </a:stretch>
        </p:blipFill>
        <p:spPr>
          <a:xfrm>
            <a:off x="3921760" y="3410884"/>
            <a:ext cx="1127760" cy="1213716"/>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09200"/>
          </a:xfrm>
          <a:prstGeom prst="rect">
            <a:avLst/>
          </a:prstGeom>
          <a:noFill/>
        </p:spPr>
        <p:txBody>
          <a:bodyPr wrap="square" rtlCol="0">
            <a:spAutoFit/>
          </a:bodyPr>
          <a:lstStyle/>
          <a:p>
            <a:pPr fontAlgn="base"/>
            <a:r>
              <a:rPr lang="en-US" sz="2000" b="1" dirty="0"/>
              <a:t>Problem Statement : RAG Agent for DIP Diet</a:t>
            </a:r>
            <a:endParaRPr lang="en-US" sz="2000" dirty="0"/>
          </a:p>
          <a:p>
            <a:pPr fontAlgn="base"/>
            <a:endParaRPr lang="en-US" sz="2000" b="1" dirty="0"/>
          </a:p>
          <a:p>
            <a:pPr fontAlgn="base"/>
            <a:r>
              <a:rPr lang="en-US" sz="2000" b="1" dirty="0"/>
              <a:t>The Challenge</a:t>
            </a:r>
            <a:r>
              <a:rPr lang="en-US" dirty="0"/>
              <a:t> </a:t>
            </a:r>
          </a:p>
          <a:p>
            <a:pPr fontAlgn="base"/>
            <a:r>
              <a:rPr lang="en-IN" dirty="0"/>
              <a:t>Health-conscious individuals and nutritionists often struggle with scattered diet plans, food charts, and wellness guidelines. The DIP Diet (Disciplined &amp; Intelligent Plan) approach emphasizes natural foods and lifestyle discipline, but its resources—books, blogs, and expert advice—are fragmented and hard to personalize. The challenge is not just to retrieve diet information but to synthesize, personalize, and provide actionable dietary recommendations. </a:t>
            </a:r>
            <a:endParaRPr lang="en-US" dirty="0"/>
          </a:p>
          <a:p>
            <a:pPr fontAlgn="base"/>
            <a:endParaRPr lang="en-US" dirty="0"/>
          </a:p>
          <a:p>
            <a:pPr fontAlgn="base"/>
            <a:r>
              <a:rPr lang="en-US" sz="2000" b="1" dirty="0"/>
              <a:t>The</a:t>
            </a:r>
            <a:r>
              <a:rPr lang="en-US" b="1" dirty="0"/>
              <a:t> </a:t>
            </a:r>
            <a:r>
              <a:rPr lang="en-US" sz="2000" b="1" dirty="0"/>
              <a:t>Objective</a:t>
            </a:r>
            <a:r>
              <a:rPr lang="en-US" dirty="0"/>
              <a:t> </a:t>
            </a:r>
          </a:p>
          <a:p>
            <a:pPr fontAlgn="base"/>
            <a:r>
              <a:rPr lang="en-IN" dirty="0"/>
              <a:t>Build a Vector Store RAG (Retrieval-Augmented Generation) Agent that serves as an intelligent diet assistant for DIP followers. The solution should: </a:t>
            </a:r>
          </a:p>
          <a:p>
            <a:pPr marL="285750" indent="-285750" fontAlgn="base">
              <a:buFont typeface="Arial" panose="020B0604020202020204" pitchFamily="34" charset="0"/>
              <a:buChar char="•"/>
            </a:pPr>
            <a:r>
              <a:rPr lang="en-US" b="1" dirty="0"/>
              <a:t>Ingest &amp; index DIP Resources</a:t>
            </a:r>
            <a:r>
              <a:rPr lang="en-US" dirty="0"/>
              <a:t> – </a:t>
            </a:r>
            <a:r>
              <a:rPr lang="en-IN" dirty="0"/>
              <a:t>Collect diet plans, nutrition guides, and related health documents, and store them in a vector database for semantic search. </a:t>
            </a:r>
            <a:endParaRPr lang="en-US" dirty="0"/>
          </a:p>
          <a:p>
            <a:pPr marL="285750" indent="-285750" fontAlgn="base">
              <a:buFont typeface="Arial" panose="020B0604020202020204" pitchFamily="34" charset="0"/>
              <a:buChar char="•"/>
            </a:pPr>
            <a:r>
              <a:rPr lang="en-US" b="1" dirty="0"/>
              <a:t>Enable Conversational  Q&amp;A </a:t>
            </a:r>
            <a:r>
              <a:rPr lang="en-US" dirty="0"/>
              <a:t>–</a:t>
            </a:r>
            <a:r>
              <a:rPr lang="en-IN" dirty="0"/>
              <a:t> Allow users to ask natural questions (e.g., “What can I eat for breakfast in the DIP diet?”) and get clear, personalized responses. </a:t>
            </a:r>
            <a:endParaRPr lang="en-US" dirty="0"/>
          </a:p>
          <a:p>
            <a:pPr marL="285750" indent="-285750" fontAlgn="base">
              <a:buFont typeface="Arial" panose="020B0604020202020204" pitchFamily="34" charset="0"/>
              <a:buChar char="•"/>
            </a:pPr>
            <a:r>
              <a:rPr lang="en-US" b="1" dirty="0"/>
              <a:t>Create a Personalized &amp; Agentic Layer</a:t>
            </a:r>
            <a:r>
              <a:rPr lang="en-US" dirty="0"/>
              <a:t> – </a:t>
            </a:r>
            <a:r>
              <a:rPr lang="en-IN" dirty="0"/>
              <a:t>Adapt diet suggestions based on user profile, lifestyle, medical conditions, or fitness goals while recommending food substitutions. </a:t>
            </a:r>
            <a:endParaRPr lang="en-US" dirty="0"/>
          </a:p>
          <a:p>
            <a:pPr marL="285750" indent="-285750" fontAlgn="base">
              <a:buFont typeface="Arial" panose="020B0604020202020204" pitchFamily="34" charset="0"/>
              <a:buChar char="•"/>
            </a:pPr>
            <a:r>
              <a:rPr lang="en-US" b="1" dirty="0"/>
              <a:t>Visualize Diet Guidance </a:t>
            </a:r>
            <a:r>
              <a:rPr lang="en-US" dirty="0"/>
              <a:t> – </a:t>
            </a:r>
            <a:r>
              <a:rPr lang="en-IN" dirty="0"/>
              <a:t>Provide a clean dashboard with daily/weekly meal plans, nutrition breakdown, and lifestyle tips to help users stay disciplined with DIP. </a:t>
            </a:r>
          </a:p>
          <a:p>
            <a:pPr marL="285750" indent="-285750" fontAlgn="base">
              <a:buFont typeface="Arial" panose="020B0604020202020204" pitchFamily="34" charset="0"/>
              <a:buChar char="•"/>
            </a:pPr>
            <a:endParaRPr lang="en-US" dirty="0"/>
          </a:p>
          <a:p>
            <a:pPr fontAlgn="base"/>
            <a:r>
              <a:rPr lang="en-US" sz="2000" b="1" dirty="0"/>
              <a:t>Tech Stack (Mandatory)</a:t>
            </a:r>
            <a:r>
              <a:rPr lang="en-US" dirty="0"/>
              <a:t> </a:t>
            </a:r>
            <a:r>
              <a:rPr lang="en-IN" dirty="0"/>
              <a:t>IBM </a:t>
            </a:r>
            <a:r>
              <a:rPr lang="en-IN" dirty="0" err="1"/>
              <a:t>Langflow</a:t>
            </a:r>
            <a:r>
              <a:rPr lang="en-IN" dirty="0"/>
              <a:t> / IBM Orchestrate + IBM Model</a:t>
            </a:r>
            <a:r>
              <a:rPr lang="en-US" dirty="0"/>
              <a:t>.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
        <p:nvSpPr>
          <p:cNvPr id="4" name="TextBox 4">
            <a:extLst>
              <a:ext uri="{FF2B5EF4-FFF2-40B4-BE49-F238E27FC236}">
                <a16:creationId xmlns:a16="http://schemas.microsoft.com/office/drawing/2014/main" id="{1BE67B72-5A66-680C-18A6-D2E50B3A6FD6}"/>
              </a:ext>
            </a:extLst>
          </p:cNvPr>
          <p:cNvSpPr txBox="1"/>
          <p:nvPr/>
        </p:nvSpPr>
        <p:spPr>
          <a:xfrm>
            <a:off x="6003634" y="3275111"/>
            <a:ext cx="184731"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a:p>
        </p:txBody>
      </p:sp>
      <p:sp>
        <p:nvSpPr>
          <p:cNvPr id="6" name="TextBox 4">
            <a:extLst>
              <a:ext uri="{FF2B5EF4-FFF2-40B4-BE49-F238E27FC236}">
                <a16:creationId xmlns:a16="http://schemas.microsoft.com/office/drawing/2014/main" id="{1BE67B72-5A66-680C-18A6-D2E50B3A6FD6}"/>
              </a:ext>
            </a:extLst>
          </p:cNvPr>
          <p:cNvSpPr txBox="1"/>
          <p:nvPr/>
        </p:nvSpPr>
        <p:spPr>
          <a:xfrm>
            <a:off x="6156034" y="3427511"/>
            <a:ext cx="184731"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a:p>
        </p:txBody>
      </p:sp>
      <p:sp>
        <p:nvSpPr>
          <p:cNvPr id="7" name="TextBox 4">
            <a:extLst>
              <a:ext uri="{FF2B5EF4-FFF2-40B4-BE49-F238E27FC236}">
                <a16:creationId xmlns:a16="http://schemas.microsoft.com/office/drawing/2014/main" id="{1BE67B72-5A66-680C-18A6-D2E50B3A6FD6}"/>
              </a:ext>
            </a:extLst>
          </p:cNvPr>
          <p:cNvSpPr txBox="1"/>
          <p:nvPr/>
        </p:nvSpPr>
        <p:spPr>
          <a:xfrm>
            <a:off x="6308434" y="3579911"/>
            <a:ext cx="184731"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marL="285750" indent="-285750" fontAlgn="base">
              <a:buFont typeface="Arial" panose="020B0604020202020204" pitchFamily="34" charset="0"/>
              <a:buChar char="•"/>
            </a:pPr>
            <a:endParaRPr lang="en-US" b="1" dirty="0"/>
          </a:p>
          <a:p>
            <a:r>
              <a:rPr lang="en-US" b="1" dirty="0"/>
              <a:t>Proposed Solution:</a:t>
            </a:r>
            <a:r>
              <a:rPr lang="en-IN" b="1" dirty="0"/>
              <a:t> DIP Diet RAG Agent</a:t>
            </a:r>
            <a:endParaRPr lang="en-IN" dirty="0"/>
          </a:p>
          <a:p>
            <a:r>
              <a:rPr lang="en-IN" dirty="0"/>
              <a:t>The proposed solution is an AI-powered </a:t>
            </a:r>
            <a:r>
              <a:rPr lang="en-IN" b="1" dirty="0"/>
              <a:t>RAG Agent for DIP Diet</a:t>
            </a:r>
            <a:r>
              <a:rPr lang="en-IN" dirty="0"/>
              <a:t> built using </a:t>
            </a:r>
            <a:r>
              <a:rPr lang="en-IN" b="1" dirty="0"/>
              <a:t>IBM </a:t>
            </a:r>
            <a:r>
              <a:rPr lang="en-IN" b="1" dirty="0" err="1"/>
              <a:t>Langflow</a:t>
            </a:r>
            <a:r>
              <a:rPr lang="en-IN" b="1" dirty="0"/>
              <a:t> / IBM Orchestrate and IBM Models</a:t>
            </a:r>
            <a:r>
              <a:rPr lang="en-IN" dirty="0"/>
              <a:t> to provide personalized and intelligent dietary guidance. The system addresses the challenges of scattered DIP Diet resources, information retrieval, personalization, and actionable diet planning through an intelligent RAG-based architecture.</a:t>
            </a:r>
          </a:p>
          <a:p>
            <a:pPr marL="285750" indent="-285750">
              <a:buFont typeface="Arial" panose="020B0604020202020204" pitchFamily="34" charset="0"/>
              <a:buChar char="•"/>
            </a:pPr>
            <a:endParaRPr lang="en-US" b="1" dirty="0"/>
          </a:p>
          <a:p>
            <a:r>
              <a:rPr lang="en-IN" dirty="0"/>
              <a:t>At its core, the solution uses a </a:t>
            </a:r>
            <a:r>
              <a:rPr lang="en-IN" b="1" dirty="0"/>
              <a:t>Retrieval-Augmented Generation (RAG) pipeline</a:t>
            </a:r>
            <a:r>
              <a:rPr lang="en-IN" dirty="0"/>
              <a:t> to retrieve relevant information from DIP Diet resources such as diet plans, nutrition guides, books, blogs, and health documents. The retrieved information is stored and searched using a </a:t>
            </a:r>
            <a:r>
              <a:rPr lang="en-IN" b="1" dirty="0"/>
              <a:t>vector database</a:t>
            </a:r>
            <a:r>
              <a:rPr lang="en-IN" dirty="0"/>
              <a:t>, enabling IBM Models to generate accurate and context-aware responses.</a:t>
            </a:r>
            <a:r>
              <a:rPr lang="en-US" dirty="0"/>
              <a:t> </a:t>
            </a:r>
          </a:p>
          <a:p>
            <a:pPr marL="285750" indent="-285750">
              <a:buFont typeface="Arial" panose="020B0604020202020204" pitchFamily="34" charset="0"/>
              <a:buChar char="•"/>
            </a:pPr>
            <a:endParaRPr lang="en-US" dirty="0"/>
          </a:p>
          <a:p>
            <a:r>
              <a:rPr lang="en-IN" dirty="0"/>
              <a:t>The system provides the following key capabilities:</a:t>
            </a:r>
            <a:endParaRPr lang="en-US" dirty="0"/>
          </a:p>
          <a:p>
            <a:pPr marL="285750" indent="-285750">
              <a:buFont typeface="Arial" panose="020B0604020202020204" pitchFamily="34" charset="0"/>
              <a:buChar char="•"/>
            </a:pPr>
            <a:r>
              <a:rPr lang="en-US" b="1" dirty="0"/>
              <a:t>DIP Knowledge Retrieval Agent</a:t>
            </a:r>
            <a:r>
              <a:rPr lang="en-US" dirty="0"/>
              <a:t> </a:t>
            </a:r>
            <a:r>
              <a:rPr lang="en-IN" dirty="0"/>
              <a:t>– Retrieves relevant information from the DIP Diet knowledge base using semantic search and RAG.</a:t>
            </a:r>
          </a:p>
          <a:p>
            <a:pPr marL="285750" indent="-285750">
              <a:buFont typeface="Arial" panose="020B0604020202020204" pitchFamily="34" charset="0"/>
              <a:buChar char="•"/>
            </a:pPr>
            <a:r>
              <a:rPr lang="en-IN" b="1" dirty="0"/>
              <a:t>Diet Recommendation Agent</a:t>
            </a:r>
            <a:r>
              <a:rPr lang="en-IN" dirty="0"/>
              <a:t> – Generates personalized meal suggestions based on the user's profile, lifestyle, preferences,        and fitness goals</a:t>
            </a:r>
          </a:p>
          <a:p>
            <a:pPr marL="285750" indent="-285750">
              <a:buFont typeface="Arial" panose="020B0604020202020204" pitchFamily="34" charset="0"/>
              <a:buChar char="•"/>
            </a:pPr>
            <a:r>
              <a:rPr lang="en-IN" b="1" dirty="0"/>
              <a:t>Food Substitution Agent</a:t>
            </a:r>
            <a:r>
              <a:rPr lang="en-IN" dirty="0"/>
              <a:t> – Recommends suitable food alternatives based on available DIP Diet information..</a:t>
            </a:r>
          </a:p>
          <a:p>
            <a:pPr marL="285750" indent="-285750">
              <a:buFont typeface="Arial" panose="020B0604020202020204" pitchFamily="34" charset="0"/>
              <a:buChar char="•"/>
            </a:pPr>
            <a:r>
              <a:rPr lang="en-IN" b="1" dirty="0"/>
              <a:t>Conversational Q&amp;A Agent</a:t>
            </a:r>
            <a:r>
              <a:rPr lang="en-IN" dirty="0"/>
              <a:t> – Allows users to ask natural-language questions and receive clear, relevant answers.</a:t>
            </a:r>
          </a:p>
          <a:p>
            <a:pPr marL="285750" indent="-285750">
              <a:buFont typeface="Arial" panose="020B0604020202020204" pitchFamily="34" charset="0"/>
              <a:buChar char="•"/>
            </a:pPr>
            <a:endParaRPr lang="en-IN" dirty="0"/>
          </a:p>
          <a:p>
            <a:r>
              <a:rPr lang="en-IN" b="1" dirty="0"/>
              <a:t>IBM </a:t>
            </a:r>
            <a:r>
              <a:rPr lang="en-IN" b="1" dirty="0" err="1"/>
              <a:t>Langflow</a:t>
            </a:r>
            <a:r>
              <a:rPr lang="en-IN" b="1" dirty="0"/>
              <a:t> / IBM Orchestrate</a:t>
            </a:r>
            <a:r>
              <a:rPr lang="en-IN" dirty="0"/>
              <a:t> is used to design and orchestrate the agent workflow, while </a:t>
            </a:r>
            <a:r>
              <a:rPr lang="en-IN" b="1" dirty="0"/>
              <a:t>IBM Models</a:t>
            </a:r>
            <a:r>
              <a:rPr lang="en-IN" dirty="0"/>
              <a:t> power natural-language understanding, reasoning, summarization, and personalization.</a:t>
            </a:r>
          </a:p>
          <a:p>
            <a:endParaRPr lang="en-IN" dirty="0"/>
          </a:p>
          <a:p>
            <a:r>
              <a:rPr lang="en-IN" dirty="0"/>
              <a:t>Overall, the solution provides an intelligent, personalized, and knowledge-grounded </a:t>
            </a:r>
            <a:r>
              <a:rPr lang="en-IN" b="1" dirty="0"/>
              <a:t>DIP Diet assistant</a:t>
            </a:r>
            <a:r>
              <a:rPr lang="en-IN" dirty="0"/>
              <a:t> that transforms scattered diet resources into practical and actionable dietary guidance.</a:t>
            </a:r>
            <a:r>
              <a:rPr lang="en-US" dirty="0"/>
              <a:t> </a:t>
            </a:r>
          </a:p>
          <a:p>
            <a:pPr marL="285750" indent="-285750" fontAlgn="base">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a:t>
            </a:r>
            <a:r>
              <a:rPr lang="en-US" sz="1800" b="1" dirty="0" err="1"/>
              <a:t>Langflow</a:t>
            </a:r>
            <a:r>
              <a:rPr lang="en-US" sz="1800" b="1" dirty="0"/>
              <a:t> / IBM Orchestrate </a:t>
            </a:r>
            <a:r>
              <a:rPr lang="en-US" sz="1800" dirty="0"/>
              <a:t>-</a:t>
            </a:r>
            <a:r>
              <a:rPr lang="en-IN" sz="1800" dirty="0"/>
              <a:t> For designing, connecting, and orchestrating the RAG Agent workflow.</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model </a:t>
            </a:r>
            <a:r>
              <a:rPr lang="en-US" sz="1800" dirty="0"/>
              <a:t>- </a:t>
            </a:r>
            <a:r>
              <a:rPr lang="en-IN" sz="1800" dirty="0"/>
              <a:t> For designing, connecting, and orchestrating the RAG Agent workflow.</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Cloud</a:t>
            </a:r>
            <a:r>
              <a:rPr lang="en-IN" sz="1800" dirty="0"/>
              <a:t> – Provides the infrastructure to build, deploy, and scale the DIP Diet RAG Agent efficiently.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RAG (Retrieval-Augmented Generation)</a:t>
            </a:r>
            <a:r>
              <a:rPr lang="en-IN" sz="1800" dirty="0"/>
              <a:t> – Retrieves relevant information from DIP Diet resources before generating responses, making the assistant more reliable and knowledge-grounded.</a:t>
            </a:r>
          </a:p>
          <a:p>
            <a:endParaRPr lang="en-IN" sz="1800" dirty="0"/>
          </a:p>
          <a:p>
            <a:pPr marL="285750" indent="-285750">
              <a:buFont typeface="Arial" panose="020B0604020202020204" pitchFamily="34" charset="0"/>
              <a:buChar char="•"/>
            </a:pPr>
            <a:r>
              <a:rPr lang="en-IN" sz="1800" b="1" dirty="0"/>
              <a:t>Vector Database</a:t>
            </a:r>
            <a:r>
              <a:rPr lang="en-IN" sz="1800" dirty="0"/>
              <a:t> – Stores document embeddings and enables semantic search to retrieve relevant DIP Diet information.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Python</a:t>
            </a:r>
            <a:r>
              <a:rPr lang="en-IN" sz="1800" dirty="0"/>
              <a:t> – Used for data processing, application logic, and integration of the RAG components.</a:t>
            </a:r>
            <a:endParaRPr lang="en-US" sz="1800" dirty="0"/>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F6A-7E3F-F070-16B6-9067E7DE7E04}"/>
              </a:ext>
            </a:extLst>
          </p:cNvPr>
          <p:cNvSpPr>
            <a:spLocks noGrp="1"/>
          </p:cNvSpPr>
          <p:nvPr>
            <p:ph type="title"/>
          </p:nvPr>
        </p:nvSpPr>
        <p:spPr/>
        <p:txBody>
          <a:bodyPr/>
          <a:lstStyle/>
          <a:p>
            <a:r>
              <a:rPr lang="en-US" b="1" dirty="0"/>
              <a:t>Role of Agentic AI in the solution </a:t>
            </a:r>
            <a:br>
              <a:rPr lang="en-IN" b="1" dirty="0"/>
            </a:br>
            <a:endParaRPr lang="en-IN" dirty="0"/>
          </a:p>
        </p:txBody>
      </p:sp>
      <p:sp>
        <p:nvSpPr>
          <p:cNvPr id="3" name="Text Placeholder 2">
            <a:extLst>
              <a:ext uri="{FF2B5EF4-FFF2-40B4-BE49-F238E27FC236}">
                <a16:creationId xmlns:a16="http://schemas.microsoft.com/office/drawing/2014/main" id="{0EC56C17-DCFE-0050-2E03-50FD1778E69D}"/>
              </a:ext>
            </a:extLst>
          </p:cNvPr>
          <p:cNvSpPr>
            <a:spLocks noGrp="1"/>
          </p:cNvSpPr>
          <p:nvPr>
            <p:ph type="body" idx="1"/>
          </p:nvPr>
        </p:nvSpPr>
        <p:spPr>
          <a:xfrm>
            <a:off x="0" y="1198880"/>
            <a:ext cx="9113520" cy="3730466"/>
          </a:xfrm>
        </p:spPr>
        <p:txBody>
          <a:bodyPr>
            <a:normAutofit fontScale="77500" lnSpcReduction="20000"/>
          </a:bodyPr>
          <a:lstStyle/>
          <a:p>
            <a:r>
              <a:rPr lang="en-US" sz="2300" b="1" dirty="0"/>
              <a:t>Role of Agentic AI in Nutrition Agent</a:t>
            </a:r>
          </a:p>
          <a:p>
            <a:r>
              <a:rPr lang="en-US" sz="2300" b="1" dirty="0"/>
              <a:t>Agentic AI</a:t>
            </a:r>
            <a:r>
              <a:rPr lang="en-US" sz="2300" dirty="0"/>
              <a:t> enables the Nutrition Agent to function as an intelligent, autonomous system rather than a simple chatbot. Using </a:t>
            </a:r>
            <a:r>
              <a:rPr lang="en-US" sz="2300" b="1" dirty="0"/>
              <a:t>IBM watsonx.ai</a:t>
            </a:r>
            <a:r>
              <a:rPr lang="en-US" sz="2300" dirty="0"/>
              <a:t> and </a:t>
            </a:r>
            <a:r>
              <a:rPr lang="en-US" sz="2300" b="1" dirty="0"/>
              <a:t>IBM Granite models</a:t>
            </a:r>
            <a:r>
              <a:rPr lang="en-US" sz="2300" dirty="0"/>
              <a:t>, it coordinates multiple specialized agents to deliver personalized nutrition guidance.</a:t>
            </a:r>
          </a:p>
          <a:p>
            <a:r>
              <a:rPr lang="en-US" sz="2300" dirty="0"/>
              <a:t>Each agent performs a specific role—such as retrieving nutritional data, generating diet plans, providing health advice, and analyzing food logs—while working collaboratively. This </a:t>
            </a:r>
            <a:r>
              <a:rPr lang="en-US" sz="2300" b="1" dirty="0"/>
              <a:t>multi-agent approach</a:t>
            </a:r>
            <a:r>
              <a:rPr lang="en-US" sz="2300" dirty="0"/>
              <a:t> ensures efficient task execution and accurate results.</a:t>
            </a:r>
          </a:p>
          <a:p>
            <a:r>
              <a:rPr lang="en-US" sz="2300" dirty="0"/>
              <a:t>Agentic AI also brings </a:t>
            </a:r>
            <a:r>
              <a:rPr lang="en-US" sz="2300" b="1" dirty="0"/>
              <a:t>context awareness</a:t>
            </a:r>
            <a:r>
              <a:rPr lang="en-US" sz="2300" dirty="0"/>
              <a:t>, understanding user details like age, health conditions, and fitness goals to generate tailored recommendations. It supports </a:t>
            </a:r>
            <a:r>
              <a:rPr lang="en-US" sz="2300" b="1" dirty="0"/>
              <a:t>real-time adaptation</a:t>
            </a:r>
            <a:r>
              <a:rPr lang="en-US" sz="2300" dirty="0"/>
              <a:t>, continuously updating suggestions based on user inputs like daily meals.</a:t>
            </a:r>
          </a:p>
          <a:p>
            <a:r>
              <a:rPr lang="en-US" sz="2300" dirty="0"/>
              <a:t>Additionally, agents communicate with each other, enabling better decision-making and improved outcomes.</a:t>
            </a:r>
          </a:p>
          <a:p>
            <a:r>
              <a:rPr lang="en-US" sz="2300" dirty="0"/>
              <a:t>Overall, Agentic AI makes the system proactive, personalized, and goal-driven, acting like a </a:t>
            </a:r>
            <a:r>
              <a:rPr lang="en-US" sz="2300" b="1" dirty="0"/>
              <a:t>smart digital nutritionist</a:t>
            </a:r>
            <a:r>
              <a:rPr lang="en-US" sz="2300" dirty="0"/>
              <a:t> that helps users maintain a healthy lifestyle.</a:t>
            </a:r>
          </a:p>
          <a:p>
            <a:endParaRPr lang="en-IN" dirty="0"/>
          </a:p>
        </p:txBody>
      </p:sp>
      <p:pic>
        <p:nvPicPr>
          <p:cNvPr id="7" name="Google Shape;196;p9">
            <a:extLst>
              <a:ext uri="{FF2B5EF4-FFF2-40B4-BE49-F238E27FC236}">
                <a16:creationId xmlns:a16="http://schemas.microsoft.com/office/drawing/2014/main" id="{1D4410FA-F627-EBB2-C149-39717D265374}"/>
              </a:ext>
            </a:extLst>
          </p:cNvPr>
          <p:cNvPicPr preferRelativeResize="0"/>
          <p:nvPr/>
        </p:nvPicPr>
        <p:blipFill rotWithShape="1">
          <a:blip r:embed="rId2">
            <a:alphaModFix/>
          </a:blip>
          <a:srcRect/>
          <a:stretch/>
        </p:blipFill>
        <p:spPr>
          <a:xfrm>
            <a:off x="9113520" y="1318986"/>
            <a:ext cx="3015343" cy="4523014"/>
          </a:xfrm>
          <a:prstGeom prst="rect">
            <a:avLst/>
          </a:prstGeom>
          <a:noFill/>
          <a:ln>
            <a:noFill/>
          </a:ln>
        </p:spPr>
      </p:pic>
    </p:spTree>
    <p:extLst>
      <p:ext uri="{BB962C8B-B14F-4D97-AF65-F5344CB8AC3E}">
        <p14:creationId xmlns:p14="http://schemas.microsoft.com/office/powerpoint/2010/main" val="2770985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964E1FAB-4664-C9DE-B153-E02F6079ABFD}"/>
              </a:ext>
            </a:extLst>
          </p:cNvPr>
          <p:cNvPicPr>
            <a:picLocks noChangeAspect="1"/>
          </p:cNvPicPr>
          <p:nvPr/>
        </p:nvPicPr>
        <p:blipFill>
          <a:blip r:embed="rId4"/>
          <a:stretch>
            <a:fillRect/>
          </a:stretch>
        </p:blipFill>
        <p:spPr>
          <a:xfrm>
            <a:off x="618982" y="816976"/>
            <a:ext cx="10678938" cy="600690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4" name="Picture 3">
            <a:extLst>
              <a:ext uri="{FF2B5EF4-FFF2-40B4-BE49-F238E27FC236}">
                <a16:creationId xmlns:a16="http://schemas.microsoft.com/office/drawing/2014/main" id="{BB5C4039-55B6-7522-ADE3-2605C7252051}"/>
              </a:ext>
            </a:extLst>
          </p:cNvPr>
          <p:cNvPicPr>
            <a:picLocks noChangeAspect="1"/>
          </p:cNvPicPr>
          <p:nvPr/>
        </p:nvPicPr>
        <p:blipFill>
          <a:blip r:embed="rId4"/>
          <a:stretch>
            <a:fillRect/>
          </a:stretch>
        </p:blipFill>
        <p:spPr>
          <a:xfrm>
            <a:off x="525444" y="984508"/>
            <a:ext cx="10447832" cy="551746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4032EFE3-35AF-CD3C-A05A-DEC5F523C678}"/>
              </a:ext>
            </a:extLst>
          </p:cNvPr>
          <p:cNvPicPr>
            <a:picLocks noChangeAspect="1"/>
          </p:cNvPicPr>
          <p:nvPr/>
        </p:nvPicPr>
        <p:blipFill>
          <a:blip r:embed="rId4"/>
          <a:stretch>
            <a:fillRect/>
          </a:stretch>
        </p:blipFill>
        <p:spPr>
          <a:xfrm>
            <a:off x="881789" y="905009"/>
            <a:ext cx="10091487" cy="5676462"/>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IN" sz="1800" dirty="0"/>
              <a:t>The proposed </a:t>
            </a:r>
            <a:r>
              <a:rPr lang="en-IN" sz="1800" b="1" dirty="0"/>
              <a:t>DIP Diet RAG Agent</a:t>
            </a:r>
            <a:r>
              <a:rPr lang="en-IN" sz="1800" dirty="0"/>
              <a:t> stands out by combining </a:t>
            </a:r>
            <a:r>
              <a:rPr lang="en-IN" sz="1800" b="1" dirty="0"/>
              <a:t>RAG, Agentic AI, and personalization</a:t>
            </a:r>
            <a:r>
              <a:rPr lang="en-IN" sz="1800" dirty="0"/>
              <a:t> to provide intelligent and knowledge-grounded diet guidance.</a:t>
            </a:r>
          </a:p>
          <a:p>
            <a:pPr marL="342900" indent="-342900">
              <a:buAutoNum type="arabicPeriod"/>
            </a:pPr>
            <a:r>
              <a:rPr lang="en-IN" sz="1800" b="1" dirty="0"/>
              <a:t>RAG-Based DIP Knowledge Retrieval</a:t>
            </a:r>
            <a:r>
              <a:rPr lang="en-IN" sz="1800" dirty="0"/>
              <a:t> – Retrieves relevant information from DIP Diet resources using semantic search instead of relying only on the model's general knowledge.</a:t>
            </a:r>
          </a:p>
          <a:p>
            <a:r>
              <a:rPr lang="en-IN" sz="1800" b="1" dirty="0"/>
              <a:t>2. Personalized Diet Guidance</a:t>
            </a:r>
            <a:r>
              <a:rPr lang="en-IN" sz="1800" dirty="0"/>
              <a:t> – Adapts suggestions according to the user's lifestyle, dietary preferences, and fitness goals.</a:t>
            </a:r>
          </a:p>
          <a:p>
            <a:r>
              <a:rPr lang="en-IN" sz="1800" b="1" dirty="0"/>
              <a:t>3. Conversational Q&amp;A</a:t>
            </a:r>
            <a:r>
              <a:rPr lang="en-IN" sz="1800" dirty="0"/>
              <a:t> – Allows users to ask natural-language questions and receive clear, context-aware answers.</a:t>
            </a:r>
          </a:p>
          <a:p>
            <a:r>
              <a:rPr lang="en-IN" sz="1800" b="1" dirty="0"/>
              <a:t>4. Smart Food Substitution</a:t>
            </a:r>
            <a:r>
              <a:rPr lang="en-IN" sz="1800" dirty="0"/>
              <a:t> – Suggests suitable alternatives when a user cannot consume a particular food.</a:t>
            </a:r>
          </a:p>
          <a:p>
            <a:r>
              <a:rPr lang="en-IN" sz="1800" b="1" dirty="0"/>
              <a:t>5. Actionable Recommendations</a:t>
            </a:r>
            <a:r>
              <a:rPr lang="en-IN" sz="1800" dirty="0"/>
              <a:t> – Converts retrieved DIP Diet information into practical meal suggestions and lifestyle tips.</a:t>
            </a:r>
          </a:p>
          <a:p>
            <a:r>
              <a:rPr lang="en-IN" sz="1800" b="1" dirty="0"/>
              <a:t>6. Agentic AI Workflow</a:t>
            </a:r>
            <a:r>
              <a:rPr lang="en-IN" sz="1800" dirty="0"/>
              <a:t> – Combines retrieval, reasoning, personalization, and response generation into an intelligent workflow.</a:t>
            </a:r>
          </a:p>
          <a:p>
            <a:r>
              <a:rPr lang="en-IN" sz="1800" b="1" dirty="0"/>
              <a:t>7. Scalable Knowledge Base</a:t>
            </a:r>
            <a:r>
              <a:rPr lang="en-IN" sz="1800" dirty="0"/>
              <a:t> – New DIP Diet resources can be added to the vector database, allowing the system's knowledge base to grow over time.</a:t>
            </a:r>
          </a:p>
          <a:p>
            <a:endParaRPr lang="en-US" dirty="0"/>
          </a:p>
          <a:p>
            <a:r>
              <a:rPr lang="en-IN" sz="1800" dirty="0"/>
              <a:t>Overall, the solution transforms scattered DIP Diet resources into a </a:t>
            </a:r>
            <a:r>
              <a:rPr lang="en-IN" sz="1800" b="1" dirty="0"/>
              <a:t>smart, personalized, and interactive digital diet assistant</a:t>
            </a:r>
            <a:r>
              <a:rPr lang="en-IN" sz="1800" dirty="0"/>
              <a:t>, rather than a simple static chatbot.</a:t>
            </a:r>
          </a:p>
        </p:txBody>
      </p:sp>
    </p:spTree>
    <p:extLst>
      <p:ext uri="{BB962C8B-B14F-4D97-AF65-F5344CB8AC3E}">
        <p14:creationId xmlns:p14="http://schemas.microsoft.com/office/powerpoint/2010/main" val="232528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6498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E054E0D-789F-F7AD-F80C-1A0F829957DF}"/>
              </a:ext>
            </a:extLst>
          </p:cNvPr>
          <p:cNvSpPr txBox="1"/>
          <p:nvPr/>
        </p:nvSpPr>
        <p:spPr>
          <a:xfrm>
            <a:off x="741680" y="1537752"/>
            <a:ext cx="7468552" cy="369332"/>
          </a:xfrm>
          <a:prstGeom prst="rect">
            <a:avLst/>
          </a:prstGeom>
          <a:noFill/>
        </p:spPr>
        <p:txBody>
          <a:bodyPr wrap="square">
            <a:spAutoFit/>
          </a:bodyPr>
          <a:lstStyle/>
          <a:p>
            <a:r>
              <a:rPr lang="en-IN" sz="1800" b="1" dirty="0"/>
              <a:t>ht</a:t>
            </a:r>
            <a:r>
              <a:rPr lang="en-IN" sz="1800" b="1" i="1" dirty="0"/>
              <a:t>tps://github.com/amritasingh005</a:t>
            </a:r>
            <a:r>
              <a:rPr lang="en-IN" sz="1800" b="1" dirty="0"/>
              <a:t>/DI</a:t>
            </a:r>
            <a:r>
              <a:rPr lang="en-IN" sz="1800" dirty="0"/>
              <a:t>P-Die</a:t>
            </a:r>
            <a:r>
              <a:rPr lang="en-IN" sz="1800" b="1" dirty="0"/>
              <a:t>t-RAG-Agent</a:t>
            </a:r>
          </a:p>
        </p:txBody>
      </p:sp>
    </p:spTree>
    <p:extLst>
      <p:ext uri="{BB962C8B-B14F-4D97-AF65-F5344CB8AC3E}">
        <p14:creationId xmlns:p14="http://schemas.microsoft.com/office/powerpoint/2010/main" val="404041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2400" b="1" dirty="0">
                <a:sym typeface="Times New Roman"/>
              </a:rPr>
              <a:t>Future</a:t>
            </a:r>
            <a:r>
              <a:rPr lang="en-US" sz="2000" b="1" dirty="0">
                <a:sym typeface="Times New Roman"/>
              </a:rPr>
              <a:t> </a:t>
            </a:r>
            <a:r>
              <a:rPr lang="en-US" sz="2400" b="1" dirty="0">
                <a:sym typeface="Times New Roman"/>
              </a:rPr>
              <a:t>Scope</a:t>
            </a:r>
            <a:r>
              <a:rPr lang="en-US" sz="2000" b="1" dirty="0">
                <a:sym typeface="Times New Roman"/>
              </a:rPr>
              <a:t> </a:t>
            </a:r>
            <a:endParaRPr lang="en-US" sz="1850" b="1" i="0" u="none" strike="noStrike" cap="none" dirty="0">
              <a:solidFill>
                <a:srgbClr val="2B3541"/>
              </a:solidFill>
              <a:latin typeface="Times New Roman"/>
              <a:ea typeface="Times New Roman"/>
              <a:cs typeface="Times New Roman"/>
              <a:sym typeface="Times New Roman"/>
            </a:endParaRPr>
          </a:p>
          <a:p>
            <a:pPr marL="342900" lvl="0" indent="-342900">
              <a:buClr>
                <a:srgbClr val="2B3541"/>
              </a:buClr>
              <a:buSzPts val="1850"/>
              <a:buAutoNum type="arabicPeriod"/>
            </a:pPr>
            <a:r>
              <a:rPr lang="en-IN" sz="1800" b="1" dirty="0"/>
              <a:t>Multilingual &amp; Voice-Based DIP Diet Assistant</a:t>
            </a:r>
            <a:br>
              <a:rPr lang="en-IN" sz="1800" dirty="0"/>
            </a:br>
            <a:r>
              <a:rPr lang="en-IN" sz="1800" dirty="0"/>
              <a:t>The system can be enhanced with voice interaction and multiple languages such as Hindi and English, making DIP Diet guidance more accessible to a wider range of users.</a:t>
            </a:r>
          </a:p>
          <a:p>
            <a:pPr lvl="0">
              <a:buClr>
                <a:srgbClr val="2B3541"/>
              </a:buClr>
              <a:buSzPts val="1850"/>
            </a:pPr>
            <a:r>
              <a:rPr lang="en-IN" sz="1800" b="1" dirty="0"/>
              <a:t>2. Wearable &amp; Fitness Device Integration</a:t>
            </a:r>
            <a:br>
              <a:rPr lang="en-IN" sz="1800" dirty="0"/>
            </a:br>
            <a:r>
              <a:rPr lang="en-IN" sz="1800" dirty="0" err="1"/>
              <a:t>Integration</a:t>
            </a:r>
            <a:r>
              <a:rPr lang="en-IN" sz="1800" dirty="0"/>
              <a:t> with smartwatches and fitness trackers can provide activity, sleep, and fitness data to improve personalized diet recommendations.</a:t>
            </a:r>
          </a:p>
          <a:p>
            <a:pPr lvl="0">
              <a:buClr>
                <a:srgbClr val="2B3541"/>
              </a:buClr>
              <a:buSzPts val="1850"/>
            </a:pPr>
            <a:r>
              <a:rPr lang="en-IN" sz="1800" b="1" dirty="0"/>
              <a:t>3. Advanced Personalization</a:t>
            </a:r>
            <a:br>
              <a:rPr lang="en-IN" sz="1800" dirty="0"/>
            </a:br>
            <a:r>
              <a:rPr lang="en-IN" sz="1800" dirty="0"/>
              <a:t>The agent can learn from user preferences, lifestyle patterns, dietary restrictions, and fitness goals to provide more personalized meal plans and food substitutions.</a:t>
            </a:r>
          </a:p>
          <a:p>
            <a:pPr lvl="0">
              <a:buClr>
                <a:srgbClr val="2B3541"/>
              </a:buClr>
              <a:buSzPts val="1850"/>
            </a:pPr>
            <a:r>
              <a:rPr lang="en-IN" sz="1800" b="1" dirty="0"/>
              <a:t> 4. Mobile Application</a:t>
            </a:r>
            <a:br>
              <a:rPr lang="en-IN" sz="1800" dirty="0"/>
            </a:br>
            <a:r>
              <a:rPr lang="en-IN" sz="1800" dirty="0"/>
              <a:t>The RAG Agent can be developed into a mobile application for convenient access to DIP Diet guidance anytime and anywhere.</a:t>
            </a:r>
            <a:endParaRPr lang="en-US" sz="1800" b="0"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B9533AB0-4232-0697-BCEE-6286F94B85C7}"/>
              </a:ext>
            </a:extLst>
          </p:cNvPr>
          <p:cNvPicPr>
            <a:picLocks noChangeAspect="1"/>
          </p:cNvPicPr>
          <p:nvPr/>
        </p:nvPicPr>
        <p:blipFill>
          <a:blip r:embed="rId3"/>
          <a:stretch>
            <a:fillRect/>
          </a:stretch>
        </p:blipFill>
        <p:spPr>
          <a:xfrm>
            <a:off x="1140862" y="1485577"/>
            <a:ext cx="6881760" cy="525052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07223" y="1759933"/>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4263CCFD-0169-2C8D-5F33-1000D91F7B87}"/>
              </a:ext>
            </a:extLst>
          </p:cNvPr>
          <p:cNvPicPr>
            <a:picLocks noChangeAspect="1"/>
          </p:cNvPicPr>
          <p:nvPr/>
        </p:nvPicPr>
        <p:blipFill>
          <a:blip r:embed="rId3"/>
          <a:stretch>
            <a:fillRect/>
          </a:stretch>
        </p:blipFill>
        <p:spPr>
          <a:xfrm>
            <a:off x="2511471" y="1274598"/>
            <a:ext cx="7231967" cy="535701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1316</Words>
  <Application>Microsoft Office PowerPoint</Application>
  <PresentationFormat>Widescreen</PresentationFormat>
  <Paragraphs>111</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Role of Agentic AI in the solution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amrita singh</cp:lastModifiedBy>
  <cp:revision>7</cp:revision>
  <dcterms:created xsi:type="dcterms:W3CDTF">2025-07-08T05:06:56Z</dcterms:created>
  <dcterms:modified xsi:type="dcterms:W3CDTF">2026-09-10T10:28:19Z</dcterms:modified>
</cp:coreProperties>
</file>